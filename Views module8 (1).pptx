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3"/>
  </p:notesMasterIdLst>
  <p:sldIdLst>
    <p:sldId id="4795" r:id="rId5"/>
    <p:sldId id="4775" r:id="rId6"/>
    <p:sldId id="4796" r:id="rId7"/>
    <p:sldId id="4797" r:id="rId8"/>
    <p:sldId id="4798" r:id="rId9"/>
    <p:sldId id="4799" r:id="rId10"/>
    <p:sldId id="4800" r:id="rId11"/>
    <p:sldId id="4801" r:id="rId12"/>
    <p:sldId id="4802" r:id="rId13"/>
    <p:sldId id="4803" r:id="rId14"/>
    <p:sldId id="4804" r:id="rId15"/>
    <p:sldId id="4805" r:id="rId16"/>
    <p:sldId id="4806" r:id="rId17"/>
    <p:sldId id="4807" r:id="rId18"/>
    <p:sldId id="4808" r:id="rId19"/>
    <p:sldId id="4809" r:id="rId20"/>
    <p:sldId id="4810" r:id="rId21"/>
    <p:sldId id="4811" r:id="rId22"/>
    <p:sldId id="4812" r:id="rId23"/>
    <p:sldId id="4813" r:id="rId24"/>
    <p:sldId id="4814" r:id="rId25"/>
    <p:sldId id="4815" r:id="rId26"/>
    <p:sldId id="4816" r:id="rId27"/>
    <p:sldId id="4817" r:id="rId28"/>
    <p:sldId id="4818" r:id="rId29"/>
    <p:sldId id="4819" r:id="rId30"/>
    <p:sldId id="4820" r:id="rId31"/>
    <p:sldId id="482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33E85-4B39-0E43-94E3-826105FDFC05}" v="22" dt="2025-09-25T10:50:37.432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39F43-1EBA-4036-8805-AC26A61C5832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60CB3-167C-4C49-ADBD-B4DF23E2F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194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07FAF-FD1A-80BE-E070-92A2A215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283D06-4E11-9A04-D8BD-822966A24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7506-62E1-351B-8755-5EEE58E6A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07979-200D-F2E1-5CDC-41202534A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5309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F93A7-2005-7A4E-F8E0-365BB526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69E35A-4E28-3749-D097-D8AABCBD33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4A9C9-5B39-93F4-BCE1-75D59D103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F2997-99AE-77F0-E7F3-61E2F77FFC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1176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CFC9-48D3-9D8A-35AA-C42392D9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5BDA98-9796-959B-A3C1-1B051E9A1E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CEA84-0B50-B58C-2161-0EA3DB24D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B120C-39DC-B4C8-1C8C-672185738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7721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B7864-CF38-F92B-F56C-1AFC9B88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12C2BB-C2E4-FBB6-CBEB-F75027ACF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3B7550-1B13-BB31-A985-1703A2EC5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2713AB-8E8B-7462-2F08-8055C2036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39154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9B96-9AEF-C19F-C42B-1E6D5A060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20D448-8A5B-41E9-A76D-C776A3D4F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C4C49E-E1F5-932B-BB42-46E6D9F24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ADA23-C26D-35D7-25D7-A32EC0D92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41052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51C4C-52B5-33DF-4B41-7FA4678B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034FF-2803-7EB2-3873-7B68AD747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197CBC-5FD2-0201-C7C9-56A1F4D7E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73197-C554-A249-4716-04589E67B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949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DFBFE-D91B-4148-5B8D-DE555F236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3F804-0D77-267F-6E34-346FCA721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0CDB3-F561-7474-CC05-C03764B3E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919B6-DB75-943D-61F6-E2C09CF8E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2774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1A7E-74F1-4E3B-97C2-B1E2E694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D81E8-5118-D2EA-2FB9-667BC77B0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4F6252-EADF-770C-9D07-AF032C5C5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A2C21-C0F8-18AD-12FB-93C61DD49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4145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EC0B-0899-566F-5BCB-267854AE6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35A3F-9B18-0A57-067B-BBB8BCD32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23E49C-AFD2-C244-253D-158C09FE7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831D5-EED8-63E4-5CF0-3094B338A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1823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AFD56-C969-7CC1-751B-BFB31B42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2A9B8-FF0B-947C-86F6-6DABC8D68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E13CFE-1734-3601-672C-B39890EA4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23AD5-7127-4E2F-CAC2-17DD5A4AF5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3900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148A6-F990-68DC-142B-79D37EF8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C6EF19-7F43-C346-510C-8FDEA4B8A6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A57BC4-3101-2DDE-67E2-9B69C3AA8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B0BA7-8799-1AD5-16B1-EC0EEFB68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9542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C6045-C55E-B105-CD0E-2B6B6792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17057-E200-7EA2-1D07-42DFEB936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1932F-224D-4CAE-F04D-0E2A3B98C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CE0DE-6036-6FE0-FB50-C5E033BB7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96800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B0169-A65F-7A66-F08A-C769CE9B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2E7612-0F00-D06E-D9FE-783194926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CFC0E0-61CC-11A0-9CE0-87032178C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A8A69-9029-9450-1CD5-73150BA26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6906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1E7A2-2EDE-DDC2-EE52-A448DF67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C91DD-6B44-D2DC-B4E5-B1AC0B291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63B2F-39BA-7DDD-FAA3-BF33D142F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3EA5F8-7418-7084-24FC-4AABE7464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5413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715E6-4B36-8E38-CF74-DC172252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42E8E8-CD15-66B1-4161-F9BC8A441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5BC64-83F0-7EB1-3F85-D167EE0CC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478BB-B91A-C90A-B6B1-963755F1D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6735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838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0C01-7951-3EA9-7F44-251E4884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064DC-C04F-6FC8-B950-EB3E7689F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75065-4F94-5CDB-106F-1235A3C68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CA4EC-6CCA-1A3C-0FDC-A0E1B72CA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22852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8CDF4-3803-AAC2-611F-4C5514122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2A6E9-330E-3C37-25AF-DB1244D0C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70CC7C-B0B1-726B-510B-E9C3EB0D8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2A9AA-E5CE-6E0F-4E0C-B345B44F3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3864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59EE9-66E9-56FC-60AA-CE393024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B659E-CE80-3AF6-7DE4-FAC6037CB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70749-4AF7-A270-8157-53116E86A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7D4AE-28B7-CFD2-99F2-B2E448F78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9D07A-98AC-4408-9A87-677237176D46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8390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83349-5433-6452-4AC5-EA0C5CCD3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CED534-F5F0-6B55-2BA7-C21A6CEE3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23A5B-BB94-02DF-5FDC-B392CB405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7B125-8DAE-A370-DF57-37BF2EA91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153D-4F0D-86F5-E900-83AE5DB4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78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C01D-B09F-5140-8B28-9A49CED2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9C884-226E-D8C1-6976-41D07AC3E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91BC5-F6D5-8016-EE88-31DEC03C1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F189B-5B83-2C86-86D1-B5769509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AD464-3CF5-3323-8338-F6250AE12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39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E9F2-7A10-1FB4-E48B-AC9CCBE0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03002-8DD4-D154-21E9-D88897C4E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14DB7-7B47-F068-5B39-B4D311A3D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BE5A-D8FD-88FD-4298-92076AA5F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E7791-35C0-2130-C061-EB59B3709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84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13E48-96A5-2019-3465-C337AB37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78057-10C7-971B-C162-1B9F739862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886BA-68FD-F596-1291-74A12CA22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F4898-14EC-C024-550B-B4975178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C7C03-25EE-DA86-0503-277B652A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462D4-024D-5BDD-3966-52B2334F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87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AFCA-75BC-0E4F-D123-F28E74B86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BEC6D-1965-F369-3325-3316B940E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416057-AF95-E4B1-B2BE-528CC5A35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676658-035B-9E07-AC4C-7909A8D04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D00226-E15C-AE49-2E5B-C30165D50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EA89A3-40C3-C0FB-2235-484EFDC5E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A70F1-AFB5-F353-CBA8-F33C2F0EF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202132-E6D3-D1EE-1259-362C68E8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74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9F6BD-640D-26B5-8FFD-D11A59DC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3FC3D-2544-E5DD-97EE-AA9AA2EEC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E8BEA-0DDD-896A-F357-B440B4682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98EA5B-9CC5-02B3-9F3C-01B8C7E0C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810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5C191B-3748-0494-3059-0488AB3B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42F52-2DF2-644A-3294-8B329B1C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B1A61-A9E8-33FF-CF65-E21D981A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903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52440-78EC-0321-2AC3-6A5DE171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697BF-4604-34EA-B463-112F9613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F0F83-0018-5243-AF92-DCB73B469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DBD64-5C98-1975-C010-0D7CB5CE5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69CEB-480D-D2F4-C18D-FF41F4E32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50DD8-869C-9B78-65C8-6F07924B7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40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0A8A-9B55-725E-B9BB-96E6BE7B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41BD11-71DB-89F1-061D-A8989AEEF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9B250-1600-AA10-E3F5-7C3329EB5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AAD6E-13B3-CD32-11F0-16CFE8AA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72698-673D-B1BF-8523-F722EFE4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8A8185-DE75-2A5B-65BA-8E78A549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698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9B6F-E3F8-2FE1-7283-F563E33D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39D52C-EEC5-9A83-A835-12AA19407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F3988-94B7-9C33-58C4-F1E357DEA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0B81C-1846-74DA-E7A6-A838BD4FC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77E84-5F1F-1F62-1FA8-1B959B74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376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A6ED63-A11F-7CF6-B56B-A6D2FF10E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03834-204B-D2B3-F168-F2913A3E6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8E9F-36F5-0DE9-9A9D-56C48AE4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C85C6-404A-87E2-C0C7-56559B5F0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E2CAE-8C0B-EE16-65A9-FF1D11A0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025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- Yellow - Client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curved lines&#10;&#10;AI-generated content may be incorrect.">
            <a:extLst>
              <a:ext uri="{FF2B5EF4-FFF2-40B4-BE49-F238E27FC236}">
                <a16:creationId xmlns:a16="http://schemas.microsoft.com/office/drawing/2014/main" id="{B73DC436-C430-1491-E846-E1D25FC068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12226183" cy="6858000"/>
          </a:xfrm>
          <a:prstGeom prst="rect">
            <a:avLst/>
          </a:prstGeom>
        </p:spPr>
      </p:pic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630086" y="3705443"/>
            <a:ext cx="4931833" cy="27098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buNone/>
              <a:defRPr sz="1333" b="0" i="0" spc="267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55612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130244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443495" indent="0">
              <a:lnSpc>
                <a:spcPct val="100000"/>
              </a:lnSpc>
              <a:buNone/>
              <a:defRPr sz="800">
                <a:solidFill>
                  <a:srgbClr val="72859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PRESENTATION DATE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-34183" y="8110409"/>
            <a:ext cx="12260365" cy="0"/>
          </a:xfrm>
          <a:prstGeom prst="line">
            <a:avLst/>
          </a:prstGeom>
          <a:ln w="6350" cap="flat" cmpd="sng" algn="ctr">
            <a:solidFill>
              <a:schemeClr val="accent5">
                <a:alpha val="1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765173" y="2215092"/>
            <a:ext cx="10611576" cy="732869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48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 Title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765173" y="3093068"/>
            <a:ext cx="10611576" cy="46727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133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7251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2pPr>
            <a:lvl3pPr marL="755612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3pPr>
            <a:lvl4pPr marL="1130244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4pPr>
            <a:lvl5pPr marL="1443495" indent="0">
              <a:buNone/>
              <a:defRPr sz="5867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  <a:cs typeface="Roboto Thin" panose="02000000000000000000" pitchFamily="2" charset="0"/>
              </a:defRPr>
            </a:lvl5pPr>
          </a:lstStyle>
          <a:p>
            <a:pPr lvl="0"/>
            <a:r>
              <a:rPr lang="en-US" dirty="0"/>
              <a:t>Presentation Subtitle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64F9DD-DE30-C34A-A485-A07A839C3CA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63317" y="5454985"/>
            <a:ext cx="3510899" cy="68335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Insert client logo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932B273F-83BA-A2C5-1897-4D85557BA0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256" y="3560340"/>
            <a:ext cx="37592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46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White">
    <p:bg>
      <p:bgPr>
        <a:solidFill>
          <a:srgbClr val="FE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85950" y="571697"/>
            <a:ext cx="10807652" cy="440488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lnSpc>
                <a:spcPts val="2667"/>
              </a:lnSpc>
              <a:defRPr sz="2933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Slide 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00608-C600-554E-813F-6D4EC02AF4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9070" y="1583269"/>
            <a:ext cx="10807700" cy="2800351"/>
          </a:xfrm>
          <a:prstGeom prst="rect">
            <a:avLst/>
          </a:prstGeom>
        </p:spPr>
        <p:txBody>
          <a:bodyPr/>
          <a:lstStyle>
            <a:lvl1pPr marL="380981" indent="-380981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98988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3926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77330" indent="-243405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16502" indent="-239173">
              <a:buClr>
                <a:schemeClr val="accent3"/>
              </a:buClr>
              <a:buFont typeface="Arial" panose="020B0604020202020204" pitchFamily="34" charset="0"/>
              <a:buChar char="•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5C8156-3E9F-6D42-BC09-E86831EB4BD7}"/>
              </a:ext>
            </a:extLst>
          </p:cNvPr>
          <p:cNvSpPr txBox="1"/>
          <p:nvPr userDrawn="1"/>
        </p:nvSpPr>
        <p:spPr>
          <a:xfrm>
            <a:off x="11469217" y="6576097"/>
            <a:ext cx="666087" cy="194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99FBE0F-E013-8744-85F1-2202A360EF8A}" type="slidenum">
              <a:rPr lang="en-US" sz="667" b="0" i="0" spc="0" baseline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667" b="0" i="0" spc="0" baseline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BCDDE-4B2D-D9CB-1B80-F64BBF7AB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58997"/>
            <a:ext cx="419279" cy="35890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80FCFB7-345B-5532-901F-FB3C2AA30452}"/>
              </a:ext>
            </a:extLst>
          </p:cNvPr>
          <p:cNvGrpSpPr/>
          <p:nvPr userDrawn="1"/>
        </p:nvGrpSpPr>
        <p:grpSpPr>
          <a:xfrm>
            <a:off x="-56699" y="6286303"/>
            <a:ext cx="12248699" cy="582884"/>
            <a:chOff x="-42524" y="4714727"/>
            <a:chExt cx="9186524" cy="4371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AD3E70E-8207-1DD9-A0BA-C9B76DADC2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2524" y="4714727"/>
              <a:ext cx="9186524" cy="437163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7882186-B640-AD70-6515-3EE323ECF299}"/>
                </a:ext>
              </a:extLst>
            </p:cNvPr>
            <p:cNvGrpSpPr/>
            <p:nvPr userDrawn="1"/>
          </p:nvGrpSpPr>
          <p:grpSpPr>
            <a:xfrm>
              <a:off x="157229" y="4832170"/>
              <a:ext cx="1798358" cy="269180"/>
              <a:chOff x="314460" y="4647384"/>
              <a:chExt cx="2355272" cy="359852"/>
            </a:xfrm>
          </p:grpSpPr>
          <p:pic>
            <p:nvPicPr>
              <p:cNvPr id="12" name="Picture 11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14B8BAAB-1A0E-E7F6-9140-98409B12FFE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043" t="31741" r="22676" b="46337"/>
              <a:stretch/>
            </p:blipFill>
            <p:spPr>
              <a:xfrm>
                <a:off x="314460" y="4647384"/>
                <a:ext cx="907472" cy="359852"/>
              </a:xfrm>
              <a:prstGeom prst="rect">
                <a:avLst/>
              </a:prstGeom>
            </p:spPr>
          </p:pic>
          <p:pic>
            <p:nvPicPr>
              <p:cNvPr id="13" name="Picture 12" descr="A black background with white text&#10;&#10;AI-generated content may be incorrect.">
                <a:extLst>
                  <a:ext uri="{FF2B5EF4-FFF2-40B4-BE49-F238E27FC236}">
                    <a16:creationId xmlns:a16="http://schemas.microsoft.com/office/drawing/2014/main" id="{7C5C02F2-245D-A75B-547C-7883F417D6D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307" t="53939" r="23341" b="35665"/>
              <a:stretch/>
            </p:blipFill>
            <p:spPr>
              <a:xfrm>
                <a:off x="1221932" y="4714151"/>
                <a:ext cx="1447800" cy="29308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71081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74">
          <p15:clr>
            <a:srgbClr val="FBAE40"/>
          </p15:clr>
        </p15:guide>
        <p15:guide id="2" pos="31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7D7340-90C5-3243-984A-29B9A0CC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4FEDC-0F4F-0FF0-CEC5-B80D0A9FE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537CF-A09F-050E-E0BC-93E62D9FF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04B169-58D5-4793-BC6F-C992A92CE269}" type="datetimeFigureOut">
              <a:rPr lang="en-IN" smtClean="0"/>
              <a:t>25-09-2025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B1493-1583-B107-F8CF-F8F749D8A5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4852A-5588-1284-FE3A-D0B219928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CAA81-B14E-4868-8542-B086AA5101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486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24" y="2286264"/>
            <a:ext cx="10611576" cy="732869"/>
          </a:xfrm>
        </p:spPr>
        <p:txBody>
          <a:bodyPr/>
          <a:lstStyle/>
          <a:p>
            <a:pPr algn="l"/>
            <a:r>
              <a:rPr lang="en-US" dirty="0"/>
              <a:t>Views and Materialized Views</a:t>
            </a:r>
          </a:p>
        </p:txBody>
      </p:sp>
    </p:spTree>
    <p:extLst>
      <p:ext uri="{BB962C8B-B14F-4D97-AF65-F5344CB8AC3E}">
        <p14:creationId xmlns:p14="http://schemas.microsoft.com/office/powerpoint/2010/main" val="254516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and Materialized Views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24C1CD8-FE6C-474C-B0CD-50540DFF1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0" y="1138277"/>
            <a:ext cx="478184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virtual table in SQL.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It is created by saving a SQL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Does not store data physically, only the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Acts like a table but pulls data from underlying tables.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C06721B-738A-ACA3-6289-9F7B4E33F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0" y="3498573"/>
            <a:ext cx="56893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Simplifies complex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Provides data security by restricting column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Makes code reusable.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Presents data in a customized format.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8FE09B-9826-B702-7547-58204FF2C29F}"/>
              </a:ext>
            </a:extLst>
          </p:cNvPr>
          <p:cNvSpPr txBox="1"/>
          <p:nvPr/>
        </p:nvSpPr>
        <p:spPr>
          <a:xfrm>
            <a:off x="685950" y="3098463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Why Use Views?</a:t>
            </a:r>
          </a:p>
        </p:txBody>
      </p:sp>
      <p:pic>
        <p:nvPicPr>
          <p:cNvPr id="1028" name="Picture 4" descr="Organize Complex Query - Advantages of Views in SQL">
            <a:extLst>
              <a:ext uri="{FF2B5EF4-FFF2-40B4-BE49-F238E27FC236}">
                <a16:creationId xmlns:a16="http://schemas.microsoft.com/office/drawing/2014/main" id="{93254C21-FF51-8495-254E-6100F1427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215" y="950337"/>
            <a:ext cx="6337004" cy="533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2308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9DF7F-5E26-233F-4650-456E38626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AFE9-2137-E6EE-7E6D-B773F42C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and Materialized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5A21C-FAC7-1941-5352-D34DC0682454}"/>
              </a:ext>
            </a:extLst>
          </p:cNvPr>
          <p:cNvSpPr txBox="1"/>
          <p:nvPr/>
        </p:nvSpPr>
        <p:spPr>
          <a:xfrm>
            <a:off x="590257" y="1107834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Creating a 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6A6AE-82BD-8ECD-8829-96024400207A}"/>
              </a:ext>
            </a:extLst>
          </p:cNvPr>
          <p:cNvSpPr txBox="1"/>
          <p:nvPr/>
        </p:nvSpPr>
        <p:spPr>
          <a:xfrm>
            <a:off x="685950" y="1583663"/>
            <a:ext cx="2971650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CREATE VIEW view_name AS</a:t>
            </a:r>
          </a:p>
          <a:p>
            <a:pPr>
              <a:buNone/>
            </a:pPr>
            <a:r>
              <a:rPr lang="en-US" dirty="0"/>
              <a:t>SELECT column1, column2</a:t>
            </a:r>
          </a:p>
          <a:p>
            <a:pPr>
              <a:buNone/>
            </a:pPr>
            <a:r>
              <a:rPr lang="en-US" dirty="0"/>
              <a:t>FROM table_name</a:t>
            </a:r>
          </a:p>
          <a:p>
            <a:pPr>
              <a:buNone/>
            </a:pPr>
            <a:r>
              <a:rPr lang="en-US" dirty="0"/>
              <a:t>WHERE condition;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9FADD-F24F-3B27-AC1C-408B5BD7BAF3}"/>
              </a:ext>
            </a:extLst>
          </p:cNvPr>
          <p:cNvSpPr txBox="1"/>
          <p:nvPr/>
        </p:nvSpPr>
        <p:spPr>
          <a:xfrm>
            <a:off x="685950" y="3791083"/>
            <a:ext cx="3779724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CREATE VIEW HighSalaryEmployees AS</a:t>
            </a:r>
          </a:p>
          <a:p>
            <a:pPr>
              <a:buNone/>
            </a:pPr>
            <a:r>
              <a:rPr lang="en-US" dirty="0"/>
              <a:t>SELECT name, salary</a:t>
            </a:r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WHERE salary &gt; 50000;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651B00-330A-D791-5C20-AD8F76C1B4DF}"/>
              </a:ext>
            </a:extLst>
          </p:cNvPr>
          <p:cNvSpPr txBox="1"/>
          <p:nvPr/>
        </p:nvSpPr>
        <p:spPr>
          <a:xfrm>
            <a:off x="685950" y="3295324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r>
              <a:rPr lang="en-IN" b="1" dirty="0"/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402429-40AC-B7DD-C98F-E9A09BB38AAF}"/>
              </a:ext>
            </a:extLst>
          </p:cNvPr>
          <p:cNvSpPr txBox="1"/>
          <p:nvPr/>
        </p:nvSpPr>
        <p:spPr>
          <a:xfrm>
            <a:off x="6326372" y="1048026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Using a 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79DF47-F8A3-A06B-793F-CF83DCE08CD5}"/>
              </a:ext>
            </a:extLst>
          </p:cNvPr>
          <p:cNvSpPr txBox="1"/>
          <p:nvPr/>
        </p:nvSpPr>
        <p:spPr>
          <a:xfrm>
            <a:off x="6326372" y="1557066"/>
            <a:ext cx="388088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SELECT * FROM HighSalaryEmployees;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F0BAA3-9035-985E-2F3B-29E8362D2CB4}"/>
              </a:ext>
            </a:extLst>
          </p:cNvPr>
          <p:cNvSpPr txBox="1"/>
          <p:nvPr/>
        </p:nvSpPr>
        <p:spPr>
          <a:xfrm>
            <a:off x="6326372" y="1989271"/>
            <a:ext cx="6315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Always shows the latest data from the base tables.</a:t>
            </a:r>
            <a:endParaRPr lang="en-IN" i="1" dirty="0"/>
          </a:p>
        </p:txBody>
      </p:sp>
      <p:pic>
        <p:nvPicPr>
          <p:cNvPr id="2050" name="Picture 2" descr="SQL Views: The Hidden Gem of Database">
            <a:extLst>
              <a:ext uri="{FF2B5EF4-FFF2-40B4-BE49-F238E27FC236}">
                <a16:creationId xmlns:a16="http://schemas.microsoft.com/office/drawing/2014/main" id="{64A04737-296F-C2EE-BFF8-90FB01FE3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261" y="2467533"/>
            <a:ext cx="7224282" cy="364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6192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E00C-8F53-3541-0E14-DDF67A93F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267B-7630-0A20-3CCC-5658E866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and Materialized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2E416-386B-8AF4-F069-1771CCB5B00F}"/>
              </a:ext>
            </a:extLst>
          </p:cNvPr>
          <p:cNvSpPr txBox="1"/>
          <p:nvPr/>
        </p:nvSpPr>
        <p:spPr>
          <a:xfrm>
            <a:off x="590257" y="1107834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Advantages of Views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EFF10-D0D4-E35C-D0B4-00116847A806}"/>
              </a:ext>
            </a:extLst>
          </p:cNvPr>
          <p:cNvSpPr txBox="1"/>
          <p:nvPr/>
        </p:nvSpPr>
        <p:spPr>
          <a:xfrm>
            <a:off x="685950" y="1583663"/>
            <a:ext cx="297165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7440213-9C60-A644-1CC4-D552B6640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57" y="1622040"/>
            <a:ext cx="50738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Simplifies access to complex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Provides abstraction of the database schema.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Enhances security (restricts sensitive data).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Easy maintenance and reuse.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B7403-68C2-0228-5629-8E4142F9D069}"/>
              </a:ext>
            </a:extLst>
          </p:cNvPr>
          <p:cNvSpPr txBox="1"/>
          <p:nvPr/>
        </p:nvSpPr>
        <p:spPr>
          <a:xfrm>
            <a:off x="595424" y="3228945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Limitations of Views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1CA48621-1C4D-7BD7-78D3-3ED29BD7D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257" y="3758632"/>
            <a:ext cx="53465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Slower for complex queries (executes each time).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Cannot always perform DML (INSERT, UPDATE, DELETE).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No physical storage (only virtual).</a:t>
            </a:r>
          </a:p>
        </p:txBody>
      </p:sp>
      <p:pic>
        <p:nvPicPr>
          <p:cNvPr id="3079" name="Picture 7" descr="Types of Views in SQL: Learn the Essentials!">
            <a:extLst>
              <a:ext uri="{FF2B5EF4-FFF2-40B4-BE49-F238E27FC236}">
                <a16:creationId xmlns:a16="http://schemas.microsoft.com/office/drawing/2014/main" id="{A6EC28CF-3A35-D90A-CAF7-9AF3EB027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6835" y="1260981"/>
            <a:ext cx="5795587" cy="458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028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E9941-5FA0-BB11-4638-B9B17BF1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1CBB4C-3EE3-C5CB-1411-F40B8F7B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and Materialized Views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2A9C37-6DBD-9C77-FD20-D833AFBC8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704" y="1664847"/>
            <a:ext cx="577497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Simple 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based on one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Complex 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based on multiple tables with joins.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Inline 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subquery in the FROM clause.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7902A-2651-50F1-0F12-6A8543B13BB5}"/>
              </a:ext>
            </a:extLst>
          </p:cNvPr>
          <p:cNvSpPr txBox="1"/>
          <p:nvPr/>
        </p:nvSpPr>
        <p:spPr>
          <a:xfrm>
            <a:off x="577704" y="1120676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Types of Views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6D9642-EB2C-2B70-F5DF-7710A29E5E1D}"/>
              </a:ext>
            </a:extLst>
          </p:cNvPr>
          <p:cNvSpPr txBox="1"/>
          <p:nvPr/>
        </p:nvSpPr>
        <p:spPr>
          <a:xfrm>
            <a:off x="685951" y="3115662"/>
            <a:ext cx="3322524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/>
              <a:t>Example of Complex View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CREATE VIEW EmployeeDept AS</a:t>
            </a:r>
          </a:p>
          <a:p>
            <a:pPr>
              <a:buNone/>
            </a:pPr>
            <a:r>
              <a:rPr lang="en-US" dirty="0"/>
              <a:t>SELECT e.name, e.salary, d.dept_name</a:t>
            </a:r>
          </a:p>
          <a:p>
            <a:pPr>
              <a:buNone/>
            </a:pPr>
            <a:r>
              <a:rPr lang="en-US" dirty="0"/>
              <a:t>FROM Employees e</a:t>
            </a:r>
          </a:p>
          <a:p>
            <a:pPr>
              <a:buNone/>
            </a:pPr>
            <a:r>
              <a:rPr lang="en-US" dirty="0"/>
              <a:t>JOIN Departments d</a:t>
            </a:r>
          </a:p>
          <a:p>
            <a:pPr>
              <a:buNone/>
            </a:pPr>
            <a:r>
              <a:rPr lang="en-US" dirty="0"/>
              <a:t>ON e.dept_id = d.dept_id;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A3F55F-4860-CDAD-605E-9E817D7230FE}"/>
              </a:ext>
            </a:extLst>
          </p:cNvPr>
          <p:cNvSpPr txBox="1"/>
          <p:nvPr/>
        </p:nvSpPr>
        <p:spPr>
          <a:xfrm>
            <a:off x="5954231" y="3093268"/>
            <a:ext cx="4774019" cy="28623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/>
              <a:t>Example of Inline View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SELECT dept_name, AVG(salary) AS avg_salary</a:t>
            </a:r>
          </a:p>
          <a:p>
            <a:pPr>
              <a:buNone/>
            </a:pPr>
            <a:r>
              <a:rPr lang="en-US" dirty="0"/>
              <a:t>FROM (</a:t>
            </a:r>
          </a:p>
          <a:p>
            <a:pPr>
              <a:buNone/>
            </a:pPr>
            <a:r>
              <a:rPr lang="en-US" dirty="0"/>
              <a:t>SELECT e.name, e.salary, d.dept_name</a:t>
            </a:r>
          </a:p>
          <a:p>
            <a:pPr>
              <a:buNone/>
            </a:pPr>
            <a:r>
              <a:rPr lang="en-US" dirty="0"/>
              <a:t>FROM Employees e</a:t>
            </a:r>
          </a:p>
          <a:p>
            <a:pPr>
              <a:buNone/>
            </a:pPr>
            <a:r>
              <a:rPr lang="en-US" dirty="0"/>
              <a:t>JOIN Departments d</a:t>
            </a:r>
          </a:p>
          <a:p>
            <a:pPr>
              <a:buNone/>
            </a:pPr>
            <a:r>
              <a:rPr lang="en-US" dirty="0"/>
              <a:t>ON e.dept_id = d.dept_id</a:t>
            </a:r>
          </a:p>
          <a:p>
            <a:pPr>
              <a:buNone/>
            </a:pPr>
            <a:r>
              <a:rPr lang="en-US" dirty="0"/>
              <a:t>) AS Temp</a:t>
            </a:r>
          </a:p>
          <a:p>
            <a:pPr>
              <a:buNone/>
            </a:pPr>
            <a:r>
              <a:rPr lang="en-US" dirty="0"/>
              <a:t>GROUP BY dept_name;</a:t>
            </a:r>
          </a:p>
        </p:txBody>
      </p:sp>
    </p:spTree>
    <p:extLst>
      <p:ext uri="{BB962C8B-B14F-4D97-AF65-F5344CB8AC3E}">
        <p14:creationId xmlns:p14="http://schemas.microsoft.com/office/powerpoint/2010/main" val="248903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F5654-61ED-DFC7-0D78-4FC7D38BF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4131-E5C0-C857-C1C4-94616691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Views vs Materialized Views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D617E2-3329-0DDB-5B8B-7B48C9741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6611209"/>
              </p:ext>
            </p:extLst>
          </p:nvPr>
        </p:nvGraphicFramePr>
        <p:xfrm>
          <a:off x="1207384" y="1254735"/>
          <a:ext cx="9764784" cy="503156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254928">
                  <a:extLst>
                    <a:ext uri="{9D8B030D-6E8A-4147-A177-3AD203B41FA5}">
                      <a16:colId xmlns:a16="http://schemas.microsoft.com/office/drawing/2014/main" val="1571148875"/>
                    </a:ext>
                  </a:extLst>
                </a:gridCol>
                <a:gridCol w="3254928">
                  <a:extLst>
                    <a:ext uri="{9D8B030D-6E8A-4147-A177-3AD203B41FA5}">
                      <a16:colId xmlns:a16="http://schemas.microsoft.com/office/drawing/2014/main" val="1855479305"/>
                    </a:ext>
                  </a:extLst>
                </a:gridCol>
                <a:gridCol w="3254928">
                  <a:extLst>
                    <a:ext uri="{9D8B030D-6E8A-4147-A177-3AD203B41FA5}">
                      <a16:colId xmlns:a16="http://schemas.microsoft.com/office/drawing/2014/main" val="856196828"/>
                    </a:ext>
                  </a:extLst>
                </a:gridCol>
              </a:tblGrid>
              <a:tr h="5158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Feature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View (Virtual View)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/>
                        <a:t>Materialized View (Stored View)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04102360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Definition</a:t>
                      </a:r>
                      <a:endParaRPr lang="en-IN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Virtual table created from a SQL query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Physical table storing query results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777904243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Storage</a:t>
                      </a:r>
                      <a:endParaRPr lang="en-IN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No physical storage (only query definition)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Occupies physical storage (stores data)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0856275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Data Freshness</a:t>
                      </a:r>
                      <a:endParaRPr lang="en-IN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Always up-to-date (fetches from base table)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May become outdated (needs refresh)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4027248450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Speed</a:t>
                      </a:r>
                      <a:endParaRPr lang="en-IN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Slower (executes query every time)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Faster (data pre-stored)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48736575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Maintenance</a:t>
                      </a:r>
                      <a:endParaRPr lang="en-IN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No refresh needed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Needs manual or automatic refresh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7501861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Use Case</a:t>
                      </a:r>
                      <a:endParaRPr lang="en-IN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For real-time, always accurate data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For performance improvement on large queries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595208000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DML Support</a:t>
                      </a:r>
                      <a:endParaRPr lang="en-IN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Sometimes updatable (depends on query)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Not directly updatable (needs refresh)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6955293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Performance</a:t>
                      </a:r>
                      <a:endParaRPr lang="en-IN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Depends on base query complexity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Optimized for faster retrieval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286410326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Best For</a:t>
                      </a:r>
                      <a:endParaRPr lang="en-IN" sz="20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Security, abstraction, simple queries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Heavy aggregations, reporting, big datasets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082202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213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424" y="2286264"/>
            <a:ext cx="10611576" cy="732869"/>
          </a:xfrm>
        </p:spPr>
        <p:txBody>
          <a:bodyPr/>
          <a:lstStyle/>
          <a:p>
            <a:pPr algn="l"/>
            <a:r>
              <a:rPr lang="en-US" dirty="0"/>
              <a:t>Stored Procedures and Functions</a:t>
            </a:r>
          </a:p>
        </p:txBody>
      </p:sp>
    </p:spTree>
    <p:extLst>
      <p:ext uri="{BB962C8B-B14F-4D97-AF65-F5344CB8AC3E}">
        <p14:creationId xmlns:p14="http://schemas.microsoft.com/office/powerpoint/2010/main" val="2392146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B17887-6815-4D5E-D297-EE5683D79E02}"/>
              </a:ext>
            </a:extLst>
          </p:cNvPr>
          <p:cNvSpPr txBox="1"/>
          <p:nvPr/>
        </p:nvSpPr>
        <p:spPr>
          <a:xfrm>
            <a:off x="606056" y="1132942"/>
            <a:ext cx="10483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Stored Procedure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precompiled collection of one or more SQL statements. It is stored inside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executed when called. It Helps in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reusability, performance, and security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1A912BC-C130-3C25-3275-89A492715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56" y="2346580"/>
            <a:ext cx="688201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Encapsulates SQL logic in a single unit.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Can accept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parameters (IN, OUT, INOUT)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(compiled once, executed many times).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restricting direct access to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3C613-482E-2526-03EC-A114A3AC283A}"/>
              </a:ext>
            </a:extLst>
          </p:cNvPr>
          <p:cNvSpPr txBox="1"/>
          <p:nvPr/>
        </p:nvSpPr>
        <p:spPr>
          <a:xfrm>
            <a:off x="606056" y="1946470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Features of Stored Procedures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E75B1F-643B-D1F0-956B-3281614AAFC0}"/>
              </a:ext>
            </a:extLst>
          </p:cNvPr>
          <p:cNvSpPr txBox="1"/>
          <p:nvPr/>
        </p:nvSpPr>
        <p:spPr>
          <a:xfrm>
            <a:off x="685950" y="4224018"/>
            <a:ext cx="5044999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1" dirty="0"/>
              <a:t>Syntax:</a:t>
            </a:r>
          </a:p>
          <a:p>
            <a:r>
              <a:rPr lang="en-US" dirty="0"/>
              <a:t>CREATE PROCEDURE procedure_name (parameters)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-- SQL statements</a:t>
            </a:r>
          </a:p>
          <a:p>
            <a:r>
              <a:rPr lang="en-US" dirty="0"/>
              <a:t>END;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989E38-E050-D36E-922E-E26CA6430D64}"/>
              </a:ext>
            </a:extLst>
          </p:cNvPr>
          <p:cNvSpPr txBox="1"/>
          <p:nvPr/>
        </p:nvSpPr>
        <p:spPr>
          <a:xfrm>
            <a:off x="7187609" y="4224018"/>
            <a:ext cx="3104707" cy="120032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1" dirty="0"/>
              <a:t>Calling:</a:t>
            </a:r>
          </a:p>
          <a:p>
            <a:r>
              <a:rPr lang="en-US" dirty="0"/>
              <a:t>EXEC procedure_name;</a:t>
            </a:r>
          </a:p>
          <a:p>
            <a:r>
              <a:rPr lang="en-US" dirty="0"/>
              <a:t>-- or</a:t>
            </a:r>
          </a:p>
          <a:p>
            <a:r>
              <a:rPr lang="en-US" dirty="0"/>
              <a:t>CALL procedure_name;</a:t>
            </a:r>
          </a:p>
        </p:txBody>
      </p:sp>
    </p:spTree>
    <p:extLst>
      <p:ext uri="{BB962C8B-B14F-4D97-AF65-F5344CB8AC3E}">
        <p14:creationId xmlns:p14="http://schemas.microsoft.com/office/powerpoint/2010/main" val="1456735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F3912-496B-7B09-3152-DC0F55600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AFE2CC-9235-0395-0226-FD8EAAC1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9ED6D-4B08-3D7D-6A97-4EB7BD8CC6AE}"/>
              </a:ext>
            </a:extLst>
          </p:cNvPr>
          <p:cNvSpPr txBox="1"/>
          <p:nvPr/>
        </p:nvSpPr>
        <p:spPr>
          <a:xfrm>
            <a:off x="685950" y="1681716"/>
            <a:ext cx="61243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PROCEDURE GetEmployees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SELECT * FROM Employees;</a:t>
            </a:r>
          </a:p>
          <a:p>
            <a:r>
              <a:rPr lang="en-US" dirty="0"/>
              <a:t>END;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A9882-2887-B70A-9501-999E1CCCE128}"/>
              </a:ext>
            </a:extLst>
          </p:cNvPr>
          <p:cNvSpPr txBox="1"/>
          <p:nvPr/>
        </p:nvSpPr>
        <p:spPr>
          <a:xfrm>
            <a:off x="685950" y="4091489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EXEC GetEmployees;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D1DDFB-B309-8AB0-DEB8-0831AB3BD3D0}"/>
              </a:ext>
            </a:extLst>
          </p:cNvPr>
          <p:cNvSpPr txBox="1"/>
          <p:nvPr/>
        </p:nvSpPr>
        <p:spPr>
          <a:xfrm>
            <a:off x="5837274" y="1674674"/>
            <a:ext cx="61243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PROCEDURE GetEmployeeById</a:t>
            </a:r>
          </a:p>
          <a:p>
            <a:r>
              <a:rPr lang="en-US" dirty="0"/>
              <a:t>   @EmpId INT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SELECT * FROM Employees WHERE EmployeeID = @EmpId;</a:t>
            </a:r>
          </a:p>
          <a:p>
            <a:r>
              <a:rPr lang="en-US" dirty="0"/>
              <a:t>END;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962F32-9840-DF75-FC05-55668D8504F9}"/>
              </a:ext>
            </a:extLst>
          </p:cNvPr>
          <p:cNvSpPr txBox="1"/>
          <p:nvPr/>
        </p:nvSpPr>
        <p:spPr>
          <a:xfrm>
            <a:off x="5837274" y="4128136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EXEC GetEmployeeById 101;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2CFA25-FB75-54DD-691B-C413DFA248BC}"/>
              </a:ext>
            </a:extLst>
          </p:cNvPr>
          <p:cNvSpPr txBox="1"/>
          <p:nvPr/>
        </p:nvSpPr>
        <p:spPr>
          <a:xfrm>
            <a:off x="685950" y="1285630"/>
            <a:ext cx="343948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Example of Stored Procedure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5DADED-4D9A-E952-120F-0F67C3D66A8A}"/>
              </a:ext>
            </a:extLst>
          </p:cNvPr>
          <p:cNvSpPr txBox="1"/>
          <p:nvPr/>
        </p:nvSpPr>
        <p:spPr>
          <a:xfrm>
            <a:off x="685950" y="3698957"/>
            <a:ext cx="149372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Execution: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B5E93C-194D-D6BE-2E98-41AD75DAFF69}"/>
              </a:ext>
            </a:extLst>
          </p:cNvPr>
          <p:cNvSpPr txBox="1"/>
          <p:nvPr/>
        </p:nvSpPr>
        <p:spPr>
          <a:xfrm>
            <a:off x="5932967" y="3722157"/>
            <a:ext cx="149372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Execution: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B18D9354-3DD3-693E-2BC4-033450BA7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7274" y="1268695"/>
            <a:ext cx="405100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Procedure with Parameters</a:t>
            </a:r>
          </a:p>
        </p:txBody>
      </p:sp>
    </p:spTree>
    <p:extLst>
      <p:ext uri="{BB962C8B-B14F-4D97-AF65-F5344CB8AC3E}">
        <p14:creationId xmlns:p14="http://schemas.microsoft.com/office/powerpoint/2010/main" val="3298442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5C787-5C10-E9AB-DC9F-BA85D9F4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FE858A-80FC-2F72-F2B3-5DFCEFB5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Stored Procedures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D4E1F58-2420-E8F8-4252-8E98B9830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58" y="1445052"/>
            <a:ext cx="536877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Reusability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write once, use many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Improved Performance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reduces query parsing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Security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prevents SQL injection, hides schema.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Maintainability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easy to update logic in one place.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88F4A4F-234C-E1E3-4C46-22385C9ED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58" y="3148081"/>
            <a:ext cx="601696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Harder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 and test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application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Portability issues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(different databases have different syntax).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Can cause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not organized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May increase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 load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overused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FB07604-4FD6-28DC-BDDC-625895833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158" y="4909060"/>
            <a:ext cx="495186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 validation before insertion.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Automating repetitive tasks (e.g., monthly reports).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Complex business logic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Securing sensitive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A5C2ED-2755-B214-6A1E-DD78D6B81A7F}"/>
              </a:ext>
            </a:extLst>
          </p:cNvPr>
          <p:cNvSpPr txBox="1"/>
          <p:nvPr/>
        </p:nvSpPr>
        <p:spPr>
          <a:xfrm>
            <a:off x="866704" y="1020765"/>
            <a:ext cx="3370521" cy="3713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Advantages of Stored Procedures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694A06-5811-A8F1-3D89-1F909AA3DDA7}"/>
              </a:ext>
            </a:extLst>
          </p:cNvPr>
          <p:cNvSpPr txBox="1"/>
          <p:nvPr/>
        </p:nvSpPr>
        <p:spPr>
          <a:xfrm>
            <a:off x="866704" y="2682212"/>
            <a:ext cx="365213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IN" b="1" dirty="0"/>
              <a:t>Disadvantages of Stored Procedures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5147F2-C212-D8BF-863B-6DA57A231363}"/>
              </a:ext>
            </a:extLst>
          </p:cNvPr>
          <p:cNvSpPr txBox="1"/>
          <p:nvPr/>
        </p:nvSpPr>
        <p:spPr>
          <a:xfrm>
            <a:off x="866704" y="4433777"/>
            <a:ext cx="327999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/>
              <a:t>Use Cases of Stored Procedures</a:t>
            </a:r>
            <a:endParaRPr lang="en-IN" b="1" dirty="0"/>
          </a:p>
        </p:txBody>
      </p:sp>
      <p:pic>
        <p:nvPicPr>
          <p:cNvPr id="7173" name="Picture 5" descr="Using Stored Procedures In Embedded Analytics | Reveal BI">
            <a:extLst>
              <a:ext uri="{FF2B5EF4-FFF2-40B4-BE49-F238E27FC236}">
                <a16:creationId xmlns:a16="http://schemas.microsoft.com/office/drawing/2014/main" id="{490454B1-88C7-B52E-6C00-6BEFE8D3A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484" y="1012185"/>
            <a:ext cx="5560329" cy="4960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815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F2B2-E399-B937-80DC-87D3E51C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4F339C-C052-A22C-073F-D5E068BE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82D497-6666-1111-C992-541197C9C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23" y="1165393"/>
            <a:ext cx="111641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database object that performs a task and returns a value. It is used for calculations, transformations, and data manipulation. It </a:t>
            </a:r>
            <a:r>
              <a:rPr lang="en-US" altLang="en-US" dirty="0">
                <a:latin typeface="Arial" panose="020B0604020202020204" pitchFamily="34" charset="0"/>
              </a:rPr>
              <a:t>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system-defined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user-defined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CBA92-F991-9D2C-C079-9EBEEF012B27}"/>
              </a:ext>
            </a:extLst>
          </p:cNvPr>
          <p:cNvSpPr txBox="1"/>
          <p:nvPr/>
        </p:nvSpPr>
        <p:spPr>
          <a:xfrm>
            <a:off x="595423" y="1964932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Types of SQL Functions: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77B9DF0-8C47-2B79-CEEB-709C6CAE9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23" y="2449700"/>
            <a:ext cx="581601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System Functions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provided by the database (e.g., LEN, GETDATE, ROUND).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User-Defined Functions (UDFs)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created by users for specific tasks.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Scalar Functions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return a single value.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Table-Valued Functions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return a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6" name="Picture 4" descr="SQL Functions Examples | What are important SQL Functions?">
            <a:extLst>
              <a:ext uri="{FF2B5EF4-FFF2-40B4-BE49-F238E27FC236}">
                <a16:creationId xmlns:a16="http://schemas.microsoft.com/office/drawing/2014/main" id="{47849292-AA90-7270-84CD-167300D84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944" y="1811723"/>
            <a:ext cx="5816010" cy="4610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BE8854-7961-A065-DB24-791F8991BC8D}"/>
              </a:ext>
            </a:extLst>
          </p:cNvPr>
          <p:cNvSpPr txBox="1"/>
          <p:nvPr/>
        </p:nvSpPr>
        <p:spPr>
          <a:xfrm>
            <a:off x="1229830" y="4347311"/>
            <a:ext cx="4855537" cy="19389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1500" b="1" i="1" dirty="0"/>
              <a:t>Syntax:</a:t>
            </a:r>
          </a:p>
          <a:p>
            <a:r>
              <a:rPr lang="en-US" sz="1500" dirty="0"/>
              <a:t>CREATE FUNCTION function_name (@parameter datatype)</a:t>
            </a:r>
          </a:p>
          <a:p>
            <a:r>
              <a:rPr lang="en-US" sz="1500" dirty="0"/>
              <a:t>RETURNS datatype</a:t>
            </a:r>
          </a:p>
          <a:p>
            <a:r>
              <a:rPr lang="en-US" sz="1500" dirty="0"/>
              <a:t>AS</a:t>
            </a:r>
          </a:p>
          <a:p>
            <a:r>
              <a:rPr lang="en-US" sz="1500" dirty="0"/>
              <a:t>BEGIN</a:t>
            </a:r>
          </a:p>
          <a:p>
            <a:r>
              <a:rPr lang="en-US" sz="1500" dirty="0"/>
              <a:t>-- function logic</a:t>
            </a:r>
          </a:p>
          <a:p>
            <a:r>
              <a:rPr lang="en-US" sz="1500" dirty="0"/>
              <a:t>RETURN value;</a:t>
            </a:r>
          </a:p>
          <a:p>
            <a:r>
              <a:rPr lang="en-US" sz="1500" dirty="0"/>
              <a:t>END;</a:t>
            </a:r>
          </a:p>
        </p:txBody>
      </p:sp>
    </p:spTree>
    <p:extLst>
      <p:ext uri="{BB962C8B-B14F-4D97-AF65-F5344CB8AC3E}">
        <p14:creationId xmlns:p14="http://schemas.microsoft.com/office/powerpoint/2010/main" val="2745777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6F40D-1BB7-7288-0AF8-897801B7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1E36EC-8640-985C-53D8-B1BF79ACE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47EAE5-B173-11E1-9841-04311979D15E}"/>
              </a:ext>
            </a:extLst>
          </p:cNvPr>
          <p:cNvSpPr txBox="1"/>
          <p:nvPr/>
        </p:nvSpPr>
        <p:spPr>
          <a:xfrm>
            <a:off x="584940" y="5045176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dbo.GetAnnualSalary(30000) AS AnnualSalary;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175A4-1B0B-A786-EE21-6194FC0DCD2F}"/>
              </a:ext>
            </a:extLst>
          </p:cNvPr>
          <p:cNvSpPr txBox="1"/>
          <p:nvPr/>
        </p:nvSpPr>
        <p:spPr>
          <a:xfrm>
            <a:off x="680633" y="1831209"/>
            <a:ext cx="6124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CREATE FUNCTION GetAnnualSalary (@MonthlySalary DECIMAL)</a:t>
            </a:r>
          </a:p>
          <a:p>
            <a:r>
              <a:rPr lang="en-US" dirty="0"/>
              <a:t>RETURNS DECIMAL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RETURN (@MonthlySalary * 12);</a:t>
            </a:r>
          </a:p>
          <a:p>
            <a:r>
              <a:rPr lang="en-US" dirty="0"/>
              <a:t>END;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2B6157-0BE1-E64D-C6AB-4154A443A2D3}"/>
              </a:ext>
            </a:extLst>
          </p:cNvPr>
          <p:cNvSpPr txBox="1"/>
          <p:nvPr/>
        </p:nvSpPr>
        <p:spPr>
          <a:xfrm>
            <a:off x="755062" y="4526413"/>
            <a:ext cx="100462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Usage: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643083-BED3-ADF0-BC94-1E6D7A30CBA3}"/>
              </a:ext>
            </a:extLst>
          </p:cNvPr>
          <p:cNvSpPr txBox="1"/>
          <p:nvPr/>
        </p:nvSpPr>
        <p:spPr>
          <a:xfrm>
            <a:off x="6523225" y="1312446"/>
            <a:ext cx="390214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 of Table-Valued Function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6F4AD368-4629-70FD-AD01-11C7BDB8F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062" y="1294061"/>
            <a:ext cx="405100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of Scalar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4F8A1D-5A69-DF7F-A172-4982F078B749}"/>
              </a:ext>
            </a:extLst>
          </p:cNvPr>
          <p:cNvSpPr txBox="1"/>
          <p:nvPr/>
        </p:nvSpPr>
        <p:spPr>
          <a:xfrm>
            <a:off x="6422065" y="1883992"/>
            <a:ext cx="62625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CREATE FUNCTION GetHighSalaryEmployees (@MinSalary DECIMAL)</a:t>
            </a:r>
          </a:p>
          <a:p>
            <a:pPr>
              <a:buNone/>
            </a:pPr>
            <a:r>
              <a:rPr lang="en-US" dirty="0"/>
              <a:t>RETURNS TABLE</a:t>
            </a:r>
          </a:p>
          <a:p>
            <a:pPr>
              <a:buNone/>
            </a:pPr>
            <a:r>
              <a:rPr lang="en-US" dirty="0"/>
              <a:t>AS</a:t>
            </a:r>
          </a:p>
          <a:p>
            <a:pPr>
              <a:buNone/>
            </a:pPr>
            <a:r>
              <a:rPr lang="en-US" dirty="0"/>
              <a:t>RETURN</a:t>
            </a:r>
          </a:p>
          <a:p>
            <a:pPr>
              <a:buNone/>
            </a:pPr>
            <a:r>
              <a:rPr lang="en-US" dirty="0"/>
              <a:t>SELECT name, salary</a:t>
            </a:r>
          </a:p>
          <a:p>
            <a:pPr>
              <a:buNone/>
            </a:pPr>
            <a:r>
              <a:rPr lang="en-US" dirty="0"/>
              <a:t>FROM Employees</a:t>
            </a:r>
          </a:p>
          <a:p>
            <a:pPr>
              <a:buNone/>
            </a:pPr>
            <a:r>
              <a:rPr lang="en-US" dirty="0"/>
              <a:t>WHERE salary &gt; @MinSalary;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C6ECEB-DD97-5901-86D3-2895FBAEB425}"/>
              </a:ext>
            </a:extLst>
          </p:cNvPr>
          <p:cNvSpPr txBox="1"/>
          <p:nvPr/>
        </p:nvSpPr>
        <p:spPr>
          <a:xfrm>
            <a:off x="6523225" y="5045176"/>
            <a:ext cx="6331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* FROM dbo.GetHighSalaryEmployees(50000);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52DE55-9AC1-C772-1C18-9DC8DF637D1C}"/>
              </a:ext>
            </a:extLst>
          </p:cNvPr>
          <p:cNvSpPr txBox="1"/>
          <p:nvPr/>
        </p:nvSpPr>
        <p:spPr>
          <a:xfrm>
            <a:off x="6523225" y="4526413"/>
            <a:ext cx="100462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Usage: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315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B8C82-75B6-AC72-B036-ABFFE1269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EF905-EC56-FB7B-1C0E-575D50A8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0A0059-9FC8-2BB8-62D2-45B21F4FC464}"/>
              </a:ext>
            </a:extLst>
          </p:cNvPr>
          <p:cNvGraphicFramePr>
            <a:graphicFrameLocks noGrp="1"/>
          </p:cNvGraphicFramePr>
          <p:nvPr/>
        </p:nvGraphicFramePr>
        <p:xfrm>
          <a:off x="685950" y="1375052"/>
          <a:ext cx="10627092" cy="448348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313546">
                  <a:extLst>
                    <a:ext uri="{9D8B030D-6E8A-4147-A177-3AD203B41FA5}">
                      <a16:colId xmlns:a16="http://schemas.microsoft.com/office/drawing/2014/main" val="690094673"/>
                    </a:ext>
                  </a:extLst>
                </a:gridCol>
                <a:gridCol w="5313546">
                  <a:extLst>
                    <a:ext uri="{9D8B030D-6E8A-4147-A177-3AD203B41FA5}">
                      <a16:colId xmlns:a16="http://schemas.microsoft.com/office/drawing/2014/main" val="3407815313"/>
                    </a:ext>
                  </a:extLst>
                </a:gridCol>
              </a:tblGrid>
              <a:tr h="448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Advantages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Limitations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869125"/>
                  </a:ext>
                </a:extLst>
              </a:tr>
              <a:tr h="784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Promotes </a:t>
                      </a:r>
                      <a:r>
                        <a:rPr lang="en-US" b="1"/>
                        <a:t>reusability</a:t>
                      </a:r>
                      <a:r>
                        <a:rPr lang="en-US"/>
                        <a:t> – can be used multiple times in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Cannot perform </a:t>
                      </a:r>
                      <a:r>
                        <a:rPr lang="en-IN" b="1" dirty="0"/>
                        <a:t>INSERT, UPDATE, DELETE</a:t>
                      </a:r>
                      <a:r>
                        <a:rPr lang="en-IN" dirty="0"/>
                        <a:t> directly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0787134"/>
                  </a:ext>
                </a:extLst>
              </a:tr>
              <a:tr h="784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Simplifies </a:t>
                      </a:r>
                      <a:r>
                        <a:rPr lang="en-IN" b="1" dirty="0"/>
                        <a:t>complex calculations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Cannot handle </a:t>
                      </a:r>
                      <a:r>
                        <a:rPr lang="en-US" b="1"/>
                        <a:t>transactions</a:t>
                      </a:r>
                      <a:r>
                        <a:rPr lang="en-US"/>
                        <a:t> (BEGIN, COMMIT, ROLLBACK)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946863"/>
                  </a:ext>
                </a:extLst>
              </a:tr>
              <a:tr h="448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Improves </a:t>
                      </a:r>
                      <a:r>
                        <a:rPr lang="en-IN" b="1"/>
                        <a:t>readability</a:t>
                      </a:r>
                      <a:r>
                        <a:rPr lang="en-IN"/>
                        <a:t> and modularity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Execution may be </a:t>
                      </a:r>
                      <a:r>
                        <a:rPr lang="en-US" b="1"/>
                        <a:t>slower</a:t>
                      </a:r>
                      <a:r>
                        <a:rPr lang="en-US"/>
                        <a:t> for complex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994998"/>
                  </a:ext>
                </a:extLst>
              </a:tr>
              <a:tr h="784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Can be used inside </a:t>
                      </a:r>
                      <a:r>
                        <a:rPr lang="en-US" b="1" dirty="0"/>
                        <a:t>SELECT, WHERE, GROUP BY, HAVING</a:t>
                      </a:r>
                      <a:r>
                        <a:rPr lang="en-US" dirty="0"/>
                        <a:t> clauses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Functions cannot call stored procedures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724659"/>
                  </a:ext>
                </a:extLst>
              </a:tr>
              <a:tr h="4483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Provides </a:t>
                      </a:r>
                      <a:r>
                        <a:rPr lang="en-US" b="1"/>
                        <a:t>consistency</a:t>
                      </a:r>
                      <a:r>
                        <a:rPr lang="en-US"/>
                        <a:t> – same logic used everywhere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Limited to returning a </a:t>
                      </a:r>
                      <a:r>
                        <a:rPr lang="en-US" b="1"/>
                        <a:t>value or table only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454619"/>
                  </a:ext>
                </a:extLst>
              </a:tr>
              <a:tr h="784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Enhances </a:t>
                      </a:r>
                      <a:r>
                        <a:rPr lang="en-US" b="1"/>
                        <a:t>security</a:t>
                      </a:r>
                      <a:r>
                        <a:rPr lang="en-US"/>
                        <a:t> – hides business logic from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Some functions (especially scalar) may reduce query performance in large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528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983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196" y="2371324"/>
            <a:ext cx="10611576" cy="732869"/>
          </a:xfrm>
        </p:spPr>
        <p:txBody>
          <a:bodyPr/>
          <a:lstStyle/>
          <a:p>
            <a:pPr algn="just"/>
            <a:r>
              <a:rPr lang="en-US" dirty="0"/>
              <a:t>Triggers</a:t>
            </a:r>
          </a:p>
        </p:txBody>
      </p:sp>
    </p:spTree>
    <p:extLst>
      <p:ext uri="{BB962C8B-B14F-4D97-AF65-F5344CB8AC3E}">
        <p14:creationId xmlns:p14="http://schemas.microsoft.com/office/powerpoint/2010/main" val="2083118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B17887-6815-4D5E-D297-EE5683D79E02}"/>
              </a:ext>
            </a:extLst>
          </p:cNvPr>
          <p:cNvSpPr txBox="1"/>
          <p:nvPr/>
        </p:nvSpPr>
        <p:spPr>
          <a:xfrm>
            <a:off x="685950" y="1023140"/>
            <a:ext cx="104837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trigger</a:t>
            </a:r>
            <a:r>
              <a:rPr lang="en-US" dirty="0"/>
              <a:t> is a stored program in the database. It is executed automatically when a specific event (INSERT, UPDATE, DELETE) occurs on a table or view. t is used for enforcing business rules, maintaining audit trails, and data validation.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3C613-482E-2526-03EC-A114A3AC283A}"/>
              </a:ext>
            </a:extLst>
          </p:cNvPr>
          <p:cNvSpPr txBox="1"/>
          <p:nvPr/>
        </p:nvSpPr>
        <p:spPr>
          <a:xfrm>
            <a:off x="776177" y="2042680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Types of TRIGGERS: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4FE76B1-392F-C54E-E7CD-162803291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56" y="2470811"/>
            <a:ext cx="89082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BEFORE Trigger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Executes before the event occurs.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AFTER Trigger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Executes after the event occurs.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/>
                <a:cs typeface="Arial"/>
              </a:rPr>
              <a:t>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</a:t>
            </a:r>
            <a:r>
              <a:rPr lang="en-US" altLang="en-US" b="1" dirty="0">
                <a:latin typeface="Arial"/>
                <a:cs typeface="Arial"/>
              </a:rPr>
              <a:t>INSTEAD OF Trigger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– Executes instead of the triggering action (mostly on views).</a:t>
            </a:r>
            <a:endParaRPr lang="en-US" altLang="en-US" sz="18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F7549E4-30D0-2371-CE7C-3E2D267FD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950" y="4386781"/>
            <a:ext cx="575356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INSERT Trigger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Fires when new data is inserted.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UPDATE Trigger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Fires when data is modified.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DELETE Trigger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Fires when data is deleted.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F7308-4EDF-BE4F-2D64-8E3E31FB9FFB}"/>
              </a:ext>
            </a:extLst>
          </p:cNvPr>
          <p:cNvSpPr txBox="1"/>
          <p:nvPr/>
        </p:nvSpPr>
        <p:spPr>
          <a:xfrm>
            <a:off x="776177" y="3918482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Trigger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Events:</a:t>
            </a:r>
          </a:p>
        </p:txBody>
      </p:sp>
    </p:spTree>
    <p:extLst>
      <p:ext uri="{BB962C8B-B14F-4D97-AF65-F5344CB8AC3E}">
        <p14:creationId xmlns:p14="http://schemas.microsoft.com/office/powerpoint/2010/main" val="3701342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361F-30C7-CFB3-9BFC-FAAFDA620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B68E7C4-483A-47DC-4DCA-02436783E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1CC24-84A0-5252-6797-0EBFE06AE09A}"/>
              </a:ext>
            </a:extLst>
          </p:cNvPr>
          <p:cNvSpPr txBox="1"/>
          <p:nvPr/>
        </p:nvSpPr>
        <p:spPr>
          <a:xfrm>
            <a:off x="685950" y="1977656"/>
            <a:ext cx="3216199" cy="25853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i="1" dirty="0"/>
              <a:t>Syntax:</a:t>
            </a:r>
          </a:p>
          <a:p>
            <a:r>
              <a:rPr lang="en-US" dirty="0"/>
              <a:t>CREATE TRIGGER trigger_name</a:t>
            </a:r>
          </a:p>
          <a:p>
            <a:r>
              <a:rPr lang="en-US" dirty="0"/>
              <a:t>ON table_name</a:t>
            </a:r>
          </a:p>
          <a:p>
            <a:r>
              <a:rPr lang="en-US" dirty="0"/>
              <a:t>AFTER | BEFORE | INSTEAD OF</a:t>
            </a:r>
          </a:p>
          <a:p>
            <a:r>
              <a:rPr lang="en-US" dirty="0"/>
              <a:t>[INSERT | UPDATE | DELETE]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-- SQL statements</a:t>
            </a:r>
          </a:p>
          <a:p>
            <a:r>
              <a:rPr lang="en-US" dirty="0"/>
              <a:t>END;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A885D5C-6103-F725-C417-8AD25A0AFE8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485589" y="305068"/>
            <a:ext cx="7848177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TRIGGER trigger_name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creates a new trigger.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(trigger_name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name you give to your trigger (example: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trg_SalaryUpdate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table_name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table on which the trigger will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ON Employees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| BEFORE | INSTEAD OF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AFTER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Runs after the operation happens (most common).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BEFORE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Runs before the operation happens (not in all SQL databases).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INSTEAD OF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Replaces the actual operation (mostly used with views).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[INSERT, UPDATE, DELETE]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Defines the event that fires the trigger: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when a new row is inserted.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when existing data is changed.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when a row is deleted.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Keyword that begins the trigger body (the code inside).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BEGIN … END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block of SQL statements that will run automatically when the trigger fires.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547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F3D8B-10A2-C6BA-D730-9B9E3130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57888C73-B02B-530B-3181-0C12FEAC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4ADCD7-9140-1ADB-33B1-7C07743A35D5}"/>
              </a:ext>
            </a:extLst>
          </p:cNvPr>
          <p:cNvSpPr txBox="1"/>
          <p:nvPr/>
        </p:nvSpPr>
        <p:spPr>
          <a:xfrm>
            <a:off x="595424" y="1578682"/>
            <a:ext cx="4433777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CREATE TRIGGER trg_AddEmployeeLog</a:t>
            </a:r>
          </a:p>
          <a:p>
            <a:r>
              <a:rPr lang="en-US" dirty="0"/>
              <a:t>ON Employees</a:t>
            </a:r>
          </a:p>
          <a:p>
            <a:r>
              <a:rPr lang="en-US" dirty="0"/>
              <a:t>AFTER INSERT</a:t>
            </a:r>
          </a:p>
          <a:p>
            <a:r>
              <a:rPr lang="en-US" dirty="0"/>
              <a:t>AS</a:t>
            </a:r>
          </a:p>
          <a:p>
            <a:r>
              <a:rPr lang="en-US" dirty="0"/>
              <a:t>BEGIN</a:t>
            </a:r>
          </a:p>
          <a:p>
            <a:r>
              <a:rPr lang="en-US" dirty="0"/>
              <a:t>    PRINT 'A new employee has been added!';</a:t>
            </a:r>
          </a:p>
          <a:p>
            <a:r>
              <a:rPr lang="en-US" dirty="0"/>
              <a:t>END;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696B22-0812-D27F-2257-E619D31D3321}"/>
              </a:ext>
            </a:extLst>
          </p:cNvPr>
          <p:cNvSpPr txBox="1"/>
          <p:nvPr/>
        </p:nvSpPr>
        <p:spPr>
          <a:xfrm>
            <a:off x="595424" y="1110767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55F7B4CC-228D-D4C7-46D0-9A89A81DA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376149"/>
            <a:ext cx="451796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Runs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after INSERT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 Employees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Automatically executes the code inside.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Here it simply shows a message.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CB38C6-716B-33BA-1886-82A067FD4D29}"/>
              </a:ext>
            </a:extLst>
          </p:cNvPr>
          <p:cNvSpPr txBox="1"/>
          <p:nvPr/>
        </p:nvSpPr>
        <p:spPr>
          <a:xfrm>
            <a:off x="595424" y="4006817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Explanation:</a:t>
            </a:r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69166194-3DD7-2340-B5FD-E98B2939E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902" y="2437157"/>
            <a:ext cx="612435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User inserts a new row into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table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Trigger trg_AddEmployeeLog fires automatically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↓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Message displayed →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"A new employee has been added!"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3BF4CF-3F39-B6DA-9128-6731EEF8CA63}"/>
              </a:ext>
            </a:extLst>
          </p:cNvPr>
          <p:cNvSpPr txBox="1"/>
          <p:nvPr/>
        </p:nvSpPr>
        <p:spPr>
          <a:xfrm>
            <a:off x="7605822" y="1938465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How It Works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15695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91796-C01D-102D-6F32-A5D1AF7B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B6EE-F71A-3368-8774-082D5344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FFD3601-7FEF-F9FF-E9FA-87C84381C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14" y="1419396"/>
            <a:ext cx="507388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Automatic execution (no manual intervention).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Ensures data integrity and consistency.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Useful for auditing and logging.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Can enforce complex business rules.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BAF081E-087C-BD1A-EF37-33A9A4A6B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321" y="3171989"/>
            <a:ext cx="56765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Can make debugging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May slow down performance if overused.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Hidden execution (not always visible to application).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Not suitable for complex business logic.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6934B89-65CF-121F-F6D4-F6D24F7E7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321" y="4981761"/>
            <a:ext cx="40799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Auditing changes in sensitive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Enforcing security rules.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Maintaining history of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Preventing invalid data entry.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680C00-82E6-B749-49A3-5BA4CC5C8815}"/>
              </a:ext>
            </a:extLst>
          </p:cNvPr>
          <p:cNvSpPr txBox="1"/>
          <p:nvPr/>
        </p:nvSpPr>
        <p:spPr>
          <a:xfrm>
            <a:off x="1039366" y="1072111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Advantages of Triggers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7BD56E-1D52-1E44-5251-09333CF11E5F}"/>
              </a:ext>
            </a:extLst>
          </p:cNvPr>
          <p:cNvSpPr txBox="1"/>
          <p:nvPr/>
        </p:nvSpPr>
        <p:spPr>
          <a:xfrm>
            <a:off x="1039366" y="2842270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Limitations of Triggers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BB2A83-4CFB-9A59-57C1-6D72CE88B7D4}"/>
              </a:ext>
            </a:extLst>
          </p:cNvPr>
          <p:cNvSpPr txBox="1"/>
          <p:nvPr/>
        </p:nvSpPr>
        <p:spPr>
          <a:xfrm>
            <a:off x="1039366" y="4612429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Use Cases of Triggers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80528C7-64ED-C32A-E753-F0952FCD78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493" y="914401"/>
            <a:ext cx="5518298" cy="468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56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796" y="2392589"/>
            <a:ext cx="10611576" cy="732869"/>
          </a:xfrm>
        </p:spPr>
        <p:txBody>
          <a:bodyPr>
            <a:normAutofit fontScale="90000"/>
          </a:bodyPr>
          <a:lstStyle/>
          <a:p>
            <a:pPr algn="just"/>
            <a:r>
              <a:rPr lang="en-US" dirty="0"/>
              <a:t>Indexes and Performance Tuning in SQL</a:t>
            </a:r>
          </a:p>
        </p:txBody>
      </p:sp>
    </p:spTree>
    <p:extLst>
      <p:ext uri="{BB962C8B-B14F-4D97-AF65-F5344CB8AC3E}">
        <p14:creationId xmlns:p14="http://schemas.microsoft.com/office/powerpoint/2010/main" val="4060304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 and Performance Tuning in SQL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2A8C412-1A78-57B2-0FF0-318E1C2BF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56" y="1303456"/>
            <a:ext cx="1116965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index is like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index</a:t>
            </a:r>
            <a:r>
              <a:rPr lang="en-US" altLang="en-US" sz="1600" dirty="0">
                <a:latin typeface="Arial" panose="020B0604020202020204" pitchFamily="34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to quickly locate data. It is created on table columns to speed up search and retrieval. Without an index SQL scans the entire table </a:t>
            </a:r>
            <a:r>
              <a:rPr lang="en-US" altLang="en-US" sz="1600" dirty="0">
                <a:latin typeface="Arial" panose="020B0604020202020204" pitchFamily="34" charset="0"/>
              </a:rPr>
              <a:t>but 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ith an index SQL directly jumps to the matching rows.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4BFE655-34C6-E77D-CE5D-DB5F45D52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56" y="2512692"/>
            <a:ext cx="646734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Clustered Index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physically stored in order of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clustered 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 table.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Non-Clustered Index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structure storing pointers to actual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non-clustered indexes allowed.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 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Ensures no duplicate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Composite 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Index on multiple columns.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Full-Text Index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For searching words in large text columns.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6F0D25-C05A-4842-C70C-9BDFB9A1B27A}"/>
              </a:ext>
            </a:extLst>
          </p:cNvPr>
          <p:cNvSpPr txBox="1"/>
          <p:nvPr/>
        </p:nvSpPr>
        <p:spPr>
          <a:xfrm>
            <a:off x="606056" y="1979447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Types of Indexes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A55A91-2542-5A41-A84F-7E96D8104E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8" y="2021366"/>
            <a:ext cx="5045300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42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919F7-51BD-26AA-8CEA-BD2C7E17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0EDFD-5CA4-0A15-A97E-3F767366A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 and Performance Tuning in SQL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6EE7E-725C-EBC9-3165-D9A1A111901E}"/>
              </a:ext>
            </a:extLst>
          </p:cNvPr>
          <p:cNvSpPr txBox="1"/>
          <p:nvPr/>
        </p:nvSpPr>
        <p:spPr>
          <a:xfrm>
            <a:off x="685950" y="1335514"/>
            <a:ext cx="3322524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1" dirty="0"/>
              <a:t>Syntax:</a:t>
            </a:r>
          </a:p>
          <a:p>
            <a:r>
              <a:rPr lang="en-US" dirty="0"/>
              <a:t>CREATE INDEX index_name</a:t>
            </a:r>
          </a:p>
          <a:p>
            <a:r>
              <a:rPr lang="en-US" dirty="0"/>
              <a:t>ON table_name (column_name);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0F38C-FD83-DA65-2122-F32750B7269C}"/>
              </a:ext>
            </a:extLst>
          </p:cNvPr>
          <p:cNvSpPr txBox="1"/>
          <p:nvPr/>
        </p:nvSpPr>
        <p:spPr>
          <a:xfrm>
            <a:off x="685950" y="3429000"/>
            <a:ext cx="5410050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-- Query without index</a:t>
            </a:r>
          </a:p>
          <a:p>
            <a:r>
              <a:rPr lang="en-US" dirty="0"/>
              <a:t>SELECT * FROM Employees WHERE Id = 1120; </a:t>
            </a:r>
          </a:p>
          <a:p>
            <a:r>
              <a:rPr lang="en-US" dirty="0"/>
              <a:t>-- Full table scan (slow)</a:t>
            </a:r>
          </a:p>
          <a:p>
            <a:endParaRPr lang="en-US" dirty="0"/>
          </a:p>
          <a:p>
            <a:r>
              <a:rPr lang="en-US" dirty="0"/>
              <a:t>-- Query with index</a:t>
            </a:r>
          </a:p>
          <a:p>
            <a:r>
              <a:rPr lang="en-US" dirty="0"/>
              <a:t>CREATE INDEX idx_emp_name ON Employees(Id);</a:t>
            </a:r>
          </a:p>
          <a:p>
            <a:r>
              <a:rPr lang="en-US" dirty="0"/>
              <a:t>SELECT * FROM Employees WHERE Id = 1120; </a:t>
            </a:r>
          </a:p>
          <a:p>
            <a:r>
              <a:rPr lang="en-US" dirty="0"/>
              <a:t>-- Uses index (fast)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62BEC-2E2E-C4C0-62C6-4429F5468B36}"/>
              </a:ext>
            </a:extLst>
          </p:cNvPr>
          <p:cNvSpPr txBox="1"/>
          <p:nvPr/>
        </p:nvSpPr>
        <p:spPr>
          <a:xfrm>
            <a:off x="685950" y="2871665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Index Usage 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162F4-DBE1-EE22-1F4E-373E65E35C0D}"/>
              </a:ext>
            </a:extLst>
          </p:cNvPr>
          <p:cNvSpPr txBox="1"/>
          <p:nvPr/>
        </p:nvSpPr>
        <p:spPr>
          <a:xfrm>
            <a:off x="6905995" y="1335514"/>
            <a:ext cx="4268824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b="1" i="1" dirty="0"/>
              <a:t>Drop Index:</a:t>
            </a:r>
          </a:p>
          <a:p>
            <a:r>
              <a:rPr lang="en-US" dirty="0"/>
              <a:t>DROP INDEX index_name ON table_name;</a:t>
            </a:r>
          </a:p>
        </p:txBody>
      </p:sp>
      <p:pic>
        <p:nvPicPr>
          <p:cNvPr id="4098" name="Picture 2" descr="How do sql indexes work">
            <a:extLst>
              <a:ext uri="{FF2B5EF4-FFF2-40B4-BE49-F238E27FC236}">
                <a16:creationId xmlns:a16="http://schemas.microsoft.com/office/drawing/2014/main" id="{EFA035BB-F1B1-B409-1654-BC972D085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0355" y="2183932"/>
            <a:ext cx="4540103" cy="4191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110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7E05-F29C-6FC9-420E-05BBC6C24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4D19D-14D5-CFCE-E419-41478C203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 and Performance Tuning in SQL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2B4C9-FFA8-2F69-1DFD-E2A631472764}"/>
              </a:ext>
            </a:extLst>
          </p:cNvPr>
          <p:cNvSpPr txBox="1"/>
          <p:nvPr/>
        </p:nvSpPr>
        <p:spPr>
          <a:xfrm>
            <a:off x="685950" y="1930582"/>
            <a:ext cx="6124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Faster </a:t>
            </a:r>
            <a:r>
              <a:rPr lang="en-US" b="1" dirty="0"/>
              <a:t>SELECT</a:t>
            </a:r>
            <a:r>
              <a:rPr lang="en-US" dirty="0"/>
              <a:t>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Improves </a:t>
            </a:r>
            <a:r>
              <a:rPr lang="en-US" b="1" dirty="0"/>
              <a:t>JOIN</a:t>
            </a:r>
            <a:r>
              <a:rPr lang="en-US" dirty="0"/>
              <a:t>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Helps in </a:t>
            </a:r>
            <a:r>
              <a:rPr lang="en-US" b="1" dirty="0"/>
              <a:t>ORDER BY, GROUP BY</a:t>
            </a:r>
            <a:r>
              <a:rPr lang="en-US" dirty="0"/>
              <a:t> queries.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Ensures uniqueness (unique index).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1F597E-3C0B-FFCF-F5B1-F339179D34CC}"/>
              </a:ext>
            </a:extLst>
          </p:cNvPr>
          <p:cNvSpPr txBox="1"/>
          <p:nvPr/>
        </p:nvSpPr>
        <p:spPr>
          <a:xfrm>
            <a:off x="808074" y="1393221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Advantages of Indexes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EB320-8EB4-3BA7-B1B6-7F2558C9EE37}"/>
              </a:ext>
            </a:extLst>
          </p:cNvPr>
          <p:cNvSpPr txBox="1"/>
          <p:nvPr/>
        </p:nvSpPr>
        <p:spPr>
          <a:xfrm>
            <a:off x="685950" y="4049309"/>
            <a:ext cx="7586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Slows down </a:t>
            </a:r>
            <a:r>
              <a:rPr lang="en-US" b="1" dirty="0"/>
              <a:t>INSERT, UPDATE, DELETE</a:t>
            </a:r>
            <a:r>
              <a:rPr lang="en-US" dirty="0"/>
              <a:t> (because index must be updated).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Takes extra </a:t>
            </a:r>
            <a:r>
              <a:rPr lang="en-US" b="1" dirty="0"/>
              <a:t>storage space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Too many indexes can hurt performance.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949AB2-D9B3-9601-C0B2-BF7CB7278645}"/>
              </a:ext>
            </a:extLst>
          </p:cNvPr>
          <p:cNvSpPr txBox="1"/>
          <p:nvPr/>
        </p:nvSpPr>
        <p:spPr>
          <a:xfrm>
            <a:off x="808074" y="3511948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Limitations of Indexes</a:t>
            </a:r>
          </a:p>
        </p:txBody>
      </p:sp>
    </p:spTree>
    <p:extLst>
      <p:ext uri="{BB962C8B-B14F-4D97-AF65-F5344CB8AC3E}">
        <p14:creationId xmlns:p14="http://schemas.microsoft.com/office/powerpoint/2010/main" val="1184253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001C0-7F21-D67B-A250-9292F7D92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47E3-EE46-0724-E2BA-84850EDD4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 and Performance Tuning in SQL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9DBDC3-0C10-5B73-46B9-22EB8F2988E5}"/>
              </a:ext>
            </a:extLst>
          </p:cNvPr>
          <p:cNvSpPr txBox="1"/>
          <p:nvPr/>
        </p:nvSpPr>
        <p:spPr>
          <a:xfrm>
            <a:off x="558359" y="1905505"/>
            <a:ext cx="68206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Use Indexes wisely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(on frequently searched columns).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Avoid SELECT *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→ fetch only needed columns.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Use Joins properly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instead of subqueries.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Normalize tables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(reduce redundancy).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Partition large tables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faster access.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Update statistics regularly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so optimizer works better.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Use Execution Plans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 analyze slow queries.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77197-5AB0-353E-1A13-8813BA08FA0F}"/>
              </a:ext>
            </a:extLst>
          </p:cNvPr>
          <p:cNvSpPr txBox="1"/>
          <p:nvPr/>
        </p:nvSpPr>
        <p:spPr>
          <a:xfrm>
            <a:off x="558359" y="1258790"/>
            <a:ext cx="61243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Performance Tuning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203673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0D79-F28E-B31C-5975-A0D3CC86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E059C6-85BA-4084-1DF2-45B8E4F5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940" y="2403221"/>
            <a:ext cx="10611576" cy="732869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Real World Performance Challenges</a:t>
            </a:r>
          </a:p>
        </p:txBody>
      </p:sp>
    </p:spTree>
    <p:extLst>
      <p:ext uri="{BB962C8B-B14F-4D97-AF65-F5344CB8AC3E}">
        <p14:creationId xmlns:p14="http://schemas.microsoft.com/office/powerpoint/2010/main" val="2503392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812D4-81B6-E744-8C20-F5F8FEF52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Performance Challenges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2A8C412-1A78-57B2-0FF0-318E1C2BF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056" y="1272678"/>
            <a:ext cx="1116965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SQL databases face many </a:t>
            </a:r>
            <a:r>
              <a:rPr lang="en-US" b="1" dirty="0"/>
              <a:t>real-world performance challenges</a:t>
            </a:r>
            <a:r>
              <a:rPr lang="en-US" dirty="0"/>
              <a:t> when handling large data, high traffic, or complex queries. Here are the major ones explained in </a:t>
            </a:r>
            <a:r>
              <a:rPr lang="en-US" b="1" dirty="0"/>
              <a:t>simple points</a:t>
            </a:r>
            <a:r>
              <a:rPr lang="en-US" dirty="0"/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EF07BC36-D1C6-C586-FECF-80420A936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205" y="2388990"/>
            <a:ext cx="568886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Queries that take too long to run because of: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Poor indexing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Too many joins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Using SELECT * instead of selecting only needed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Filtering on non-indexed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915905-984A-00A1-F129-85E24459B1AA}"/>
              </a:ext>
            </a:extLst>
          </p:cNvPr>
          <p:cNvSpPr txBox="1"/>
          <p:nvPr/>
        </p:nvSpPr>
        <p:spPr>
          <a:xfrm>
            <a:off x="467983" y="2396261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b="1" dirty="0"/>
              <a:t>Slow Queries: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249F00-2EFC-7C57-2B82-F496462D894D}"/>
              </a:ext>
            </a:extLst>
          </p:cNvPr>
          <p:cNvSpPr txBox="1"/>
          <p:nvPr/>
        </p:nvSpPr>
        <p:spPr>
          <a:xfrm>
            <a:off x="467983" y="4185846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IN" b="1" dirty="0"/>
              <a:t>Poor Indexing:</a:t>
            </a:r>
            <a:endParaRPr lang="en-IN" dirty="0"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F48702D1-7675-D054-19B6-548CAF0B7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545" y="4271787"/>
            <a:ext cx="627396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Missing indexes → full table scans (very slow).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Too many indexes → slows down INSERT, UPDATE, DELETE.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Wrong type of index (e.g., B-tree vs bitmap) → bad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8958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8040B-79C8-3DC0-8DDE-A17C9C05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5D27B-DCEA-6C16-0B10-E9C2A398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Performance Challenges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07DAC9-50DB-E964-6821-A529492F401E}"/>
              </a:ext>
            </a:extLst>
          </p:cNvPr>
          <p:cNvSpPr txBox="1"/>
          <p:nvPr/>
        </p:nvSpPr>
        <p:spPr>
          <a:xfrm>
            <a:off x="416292" y="1412598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US" b="1" dirty="0"/>
              <a:t>High Concurrency (Many Users at Once):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1436C-6CD7-20B8-C473-2D8AF9BBAD1D}"/>
              </a:ext>
            </a:extLst>
          </p:cNvPr>
          <p:cNvSpPr txBox="1"/>
          <p:nvPr/>
        </p:nvSpPr>
        <p:spPr>
          <a:xfrm>
            <a:off x="4688958" y="1412598"/>
            <a:ext cx="61243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Multiple users accessing the same database can 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Locking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(one transaction blocks another)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Deadlocks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(two transactions wait forever for each other)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 Contention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(too many people updating same table/row)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D83D3F-1AFA-6744-C88D-34FEF10B7900}"/>
              </a:ext>
            </a:extLst>
          </p:cNvPr>
          <p:cNvSpPr txBox="1"/>
          <p:nvPr/>
        </p:nvSpPr>
        <p:spPr>
          <a:xfrm>
            <a:off x="416292" y="2905409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IN" b="1" dirty="0"/>
              <a:t>Large Data Volume: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BD90B-88E9-9F3E-48C1-A417031AB9BA}"/>
              </a:ext>
            </a:extLst>
          </p:cNvPr>
          <p:cNvSpPr txBox="1"/>
          <p:nvPr/>
        </p:nvSpPr>
        <p:spPr>
          <a:xfrm>
            <a:off x="2732566" y="2905409"/>
            <a:ext cx="61243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 tables grow into millions of rows: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Queries become slower.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Backups and restores take more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Joins across large tables become very costly.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F14FA-EDD8-F0C4-D2A1-10EE7F4F0730}"/>
              </a:ext>
            </a:extLst>
          </p:cNvPr>
          <p:cNvSpPr txBox="1"/>
          <p:nvPr/>
        </p:nvSpPr>
        <p:spPr>
          <a:xfrm>
            <a:off x="416292" y="4478257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IN" b="1" dirty="0"/>
              <a:t>Poor Query Design: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E469044B-1FB4-B2AF-65E0-37E05794F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5895" y="4846731"/>
            <a:ext cx="561102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Using subqueries instead of joins (or vice versa).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No proper filtering (missing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WHERE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Repeated queries instead of caching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Not using pagination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LIMIT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OFFSET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for large result sets.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CBAFF-AE40-0734-24B7-3B4AB44C8C0E}"/>
              </a:ext>
            </a:extLst>
          </p:cNvPr>
          <p:cNvSpPr txBox="1"/>
          <p:nvPr/>
        </p:nvSpPr>
        <p:spPr>
          <a:xfrm>
            <a:off x="2732566" y="4497660"/>
            <a:ext cx="282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includes the following: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55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E3D8F-80FD-5322-55E9-B452CD13C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4FE7C-44C4-472C-843B-6E07B59A4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Performance Challenges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17CE96-6588-B5CD-F5DF-AA61780AB9B1}"/>
              </a:ext>
            </a:extLst>
          </p:cNvPr>
          <p:cNvSpPr txBox="1"/>
          <p:nvPr/>
        </p:nvSpPr>
        <p:spPr>
          <a:xfrm>
            <a:off x="416292" y="1412598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6"/>
            </a:pPr>
            <a:r>
              <a:rPr lang="en-IN" b="1" dirty="0"/>
              <a:t>Joins Across Huge Tables: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20730-FE84-0265-0301-DDE8C19C6058}"/>
              </a:ext>
            </a:extLst>
          </p:cNvPr>
          <p:cNvSpPr txBox="1"/>
          <p:nvPr/>
        </p:nvSpPr>
        <p:spPr>
          <a:xfrm>
            <a:off x="3245895" y="1436584"/>
            <a:ext cx="61243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Joining many big tables can cause: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memory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Slow response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Temporary tables (disk I/O overhead)</a:t>
            </a:r>
          </a:p>
          <a:p>
            <a:pPr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06840-82BC-2C32-4E0B-098B5DD3F59A}"/>
              </a:ext>
            </a:extLst>
          </p:cNvPr>
          <p:cNvSpPr txBox="1"/>
          <p:nvPr/>
        </p:nvSpPr>
        <p:spPr>
          <a:xfrm>
            <a:off x="416292" y="2905409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7"/>
            </a:pPr>
            <a:r>
              <a:rPr lang="en-IN" b="1" dirty="0"/>
              <a:t>Inefficient Transactions: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EAB4AE-2F63-297D-590F-B93938931ED5}"/>
              </a:ext>
            </a:extLst>
          </p:cNvPr>
          <p:cNvSpPr txBox="1"/>
          <p:nvPr/>
        </p:nvSpPr>
        <p:spPr>
          <a:xfrm>
            <a:off x="3691930" y="3184422"/>
            <a:ext cx="61243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Long transactions → lock rows/tables for long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Unnecessary rollbacks → waste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Not committing quickly → delays for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AD41DF-6905-8750-CA91-350229310850}"/>
              </a:ext>
            </a:extLst>
          </p:cNvPr>
          <p:cNvSpPr txBox="1"/>
          <p:nvPr/>
        </p:nvSpPr>
        <p:spPr>
          <a:xfrm>
            <a:off x="416292" y="4468716"/>
            <a:ext cx="6124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8"/>
            </a:pPr>
            <a:r>
              <a:rPr lang="en-IN" b="1" dirty="0"/>
              <a:t>Hardware &amp; Resource Bottlenecks: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406BEF-3F3E-E0C5-3D69-015243811436}"/>
              </a:ext>
            </a:extLst>
          </p:cNvPr>
          <p:cNvSpPr txBox="1"/>
          <p:nvPr/>
        </p:nvSpPr>
        <p:spPr>
          <a:xfrm>
            <a:off x="4210492" y="4471758"/>
            <a:ext cx="29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includes the following: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3DC006-EA9C-69A5-DBE9-BED4413A2DEE}"/>
              </a:ext>
            </a:extLst>
          </p:cNvPr>
          <p:cNvSpPr txBox="1"/>
          <p:nvPr/>
        </p:nvSpPr>
        <p:spPr>
          <a:xfrm>
            <a:off x="3168501" y="2905409"/>
            <a:ext cx="29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includes the following: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216EA24-AD05-88A0-B6FE-25D39998D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103" y="4838048"/>
            <a:ext cx="67304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CPU overload when queries are complex.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Not enough RAM → queries spill to disk (slower).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Slow disk I/O → especially for large reads/writes.</a:t>
            </a:r>
          </a:p>
        </p:txBody>
      </p:sp>
    </p:spTree>
    <p:extLst>
      <p:ext uri="{BB962C8B-B14F-4D97-AF65-F5344CB8AC3E}">
        <p14:creationId xmlns:p14="http://schemas.microsoft.com/office/powerpoint/2010/main" val="3719046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2E661-ADE2-3ADD-F400-38F516B81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647BF-331F-C14B-A6B3-3C6DCCEE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Performance Challenges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08ADD2-31CB-465E-0BD0-44427A75D760}"/>
              </a:ext>
            </a:extLst>
          </p:cNvPr>
          <p:cNvSpPr txBox="1"/>
          <p:nvPr/>
        </p:nvSpPr>
        <p:spPr>
          <a:xfrm>
            <a:off x="416292" y="1412598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9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Bad Schema Design: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E3EA49-31F2-43C7-F943-3E39849C08D1}"/>
              </a:ext>
            </a:extLst>
          </p:cNvPr>
          <p:cNvSpPr txBox="1"/>
          <p:nvPr/>
        </p:nvSpPr>
        <p:spPr>
          <a:xfrm>
            <a:off x="416292" y="2990424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0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Network Latency: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9CD6D-33A3-331F-F775-0DE8C31E7CF8}"/>
              </a:ext>
            </a:extLst>
          </p:cNvPr>
          <p:cNvSpPr txBox="1"/>
          <p:nvPr/>
        </p:nvSpPr>
        <p:spPr>
          <a:xfrm>
            <a:off x="416292" y="4468716"/>
            <a:ext cx="61243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11"/>
            </a:pP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Lack of Query Optimization: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5CFEB-3D67-EA2C-1820-F90CBE4CDD20}"/>
              </a:ext>
            </a:extLst>
          </p:cNvPr>
          <p:cNvSpPr txBox="1"/>
          <p:nvPr/>
        </p:nvSpPr>
        <p:spPr>
          <a:xfrm>
            <a:off x="3595424" y="4453327"/>
            <a:ext cx="29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includes the following: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771BE-BD16-3B90-2448-CE1F62F48A34}"/>
              </a:ext>
            </a:extLst>
          </p:cNvPr>
          <p:cNvSpPr txBox="1"/>
          <p:nvPr/>
        </p:nvSpPr>
        <p:spPr>
          <a:xfrm>
            <a:off x="2570398" y="2990633"/>
            <a:ext cx="29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includes the following: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15808D-E74C-C496-06B7-41DF2DEEFF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0885" y="4792594"/>
            <a:ext cx="673040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Not analyzing execution plan.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Not rewriting queries in efficient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Not using database-specific optimization features (like query hints).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488453-A4CF-1A61-96E7-C59F1528CD9A}"/>
              </a:ext>
            </a:extLst>
          </p:cNvPr>
          <p:cNvSpPr txBox="1"/>
          <p:nvPr/>
        </p:nvSpPr>
        <p:spPr>
          <a:xfrm>
            <a:off x="3214581" y="1677971"/>
            <a:ext cx="6124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Not normalized → redundant data → storage &amp; performance issues.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Over-normalized → too many joins → query slowdown.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 No partitioning/sharding → large tables hard to query.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79156D-C94D-A9E4-4C23-AFB83C6C44AD}"/>
              </a:ext>
            </a:extLst>
          </p:cNvPr>
          <p:cNvSpPr txBox="1"/>
          <p:nvPr/>
        </p:nvSpPr>
        <p:spPr>
          <a:xfrm>
            <a:off x="2853067" y="1412185"/>
            <a:ext cx="294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It includes the following:</a:t>
            </a:r>
            <a:endParaRPr lang="en-IN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868E5C0-D197-568B-2D84-4306CDCFB46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214581" y="3417324"/>
            <a:ext cx="58335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If application and database are on different servers.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Too many round-trips between app and DB.</a:t>
            </a:r>
          </a:p>
        </p:txBody>
      </p:sp>
    </p:spTree>
    <p:extLst>
      <p:ext uri="{BB962C8B-B14F-4D97-AF65-F5344CB8AC3E}">
        <p14:creationId xmlns:p14="http://schemas.microsoft.com/office/powerpoint/2010/main" val="11019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8E86AC857CA04FBDBC5CBCF563035C" ma:contentTypeVersion="11" ma:contentTypeDescription="Create a new document." ma:contentTypeScope="" ma:versionID="8b97104ef13757b2fcf5b73c2e5c451d">
  <xsd:schema xmlns:xsd="http://www.w3.org/2001/XMLSchema" xmlns:xs="http://www.w3.org/2001/XMLSchema" xmlns:p="http://schemas.microsoft.com/office/2006/metadata/properties" xmlns:ns2="f47ad30f-779d-4b00-ac13-afc37bf3bb1f" xmlns:ns3="0affa98b-6026-4c43-8670-8d5a7fdee18a" targetNamespace="http://schemas.microsoft.com/office/2006/metadata/properties" ma:root="true" ma:fieldsID="d6e57065e6343dac360c010b51842f08" ns2:_="" ns3:_="">
    <xsd:import namespace="f47ad30f-779d-4b00-ac13-afc37bf3bb1f"/>
    <xsd:import namespace="0affa98b-6026-4c43-8670-8d5a7fdee1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7ad30f-779d-4b00-ac13-afc37bf3bb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89bfc37-40e7-4ffb-8afd-edd6ddce3a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ffa98b-6026-4c43-8670-8d5a7fdee18a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16421c3-aacb-4fe6-97a7-abf04e632ebb}" ma:internalName="TaxCatchAll" ma:showField="CatchAllData" ma:web="0affa98b-6026-4c43-8670-8d5a7fdee1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ffa98b-6026-4c43-8670-8d5a7fdee18a" xsi:nil="true"/>
    <lcf76f155ced4ddcb4097134ff3c332f xmlns="f47ad30f-779d-4b00-ac13-afc37bf3bb1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7BFF1F-C29F-4C55-8238-D70C1EE562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7ad30f-779d-4b00-ac13-afc37bf3bb1f"/>
    <ds:schemaRef ds:uri="0affa98b-6026-4c43-8670-8d5a7fdee1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A90581-D5EF-4D60-9A50-0A7EFBB4DF6A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87ec9da3-7eaf-4066-9275-2bd508db8550"/>
    <ds:schemaRef ds:uri="http://schemas.microsoft.com/office/2006/metadata/properties"/>
    <ds:schemaRef ds:uri="http://purl.org/dc/terms/"/>
    <ds:schemaRef ds:uri="http://purl.org/dc/elements/1.1/"/>
    <ds:schemaRef ds:uri="0affa98b-6026-4c43-8670-8d5a7fdee18a"/>
    <ds:schemaRef ds:uri="f47ad30f-779d-4b00-ac13-afc37bf3bb1f"/>
  </ds:schemaRefs>
</ds:datastoreItem>
</file>

<file path=customXml/itemProps3.xml><?xml version="1.0" encoding="utf-8"?>
<ds:datastoreItem xmlns:ds="http://schemas.openxmlformats.org/officeDocument/2006/customXml" ds:itemID="{A5D96DA9-BFF3-45BF-A9D9-B575811326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492</Words>
  <Application>Microsoft Office PowerPoint</Application>
  <PresentationFormat>Widescreen</PresentationFormat>
  <Paragraphs>93</Paragraphs>
  <Slides>28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Views and Materialized Views</vt:lpstr>
      <vt:lpstr>Views and Materialized Views</vt:lpstr>
      <vt:lpstr>Views and Materialized Views</vt:lpstr>
      <vt:lpstr>Views and Materialized Views</vt:lpstr>
      <vt:lpstr>Views and Materialized Views</vt:lpstr>
      <vt:lpstr>Views vs Materialized Views</vt:lpstr>
      <vt:lpstr>Stored Procedures and Functions</vt:lpstr>
      <vt:lpstr>Stored Procedures</vt:lpstr>
      <vt:lpstr>Stored Procedures</vt:lpstr>
      <vt:lpstr>Stored Procedures</vt:lpstr>
      <vt:lpstr>Functions</vt:lpstr>
      <vt:lpstr>Functions</vt:lpstr>
      <vt:lpstr>Functions</vt:lpstr>
      <vt:lpstr>Triggers</vt:lpstr>
      <vt:lpstr>Triggers</vt:lpstr>
      <vt:lpstr>Triggers</vt:lpstr>
      <vt:lpstr>Triggers</vt:lpstr>
      <vt:lpstr>Triggers</vt:lpstr>
      <vt:lpstr>Indexes and Performance Tuning in SQL</vt:lpstr>
      <vt:lpstr>Indexes and Performance Tuning in SQL</vt:lpstr>
      <vt:lpstr>Indexes and Performance Tuning in SQL</vt:lpstr>
      <vt:lpstr>Indexes and Performance Tuning in SQL</vt:lpstr>
      <vt:lpstr>Indexes and Performance Tuning in SQL</vt:lpstr>
      <vt:lpstr>Real World Performance Challenges</vt:lpstr>
      <vt:lpstr>Real World Performance Challenges</vt:lpstr>
      <vt:lpstr>Real World Performance Challenges</vt:lpstr>
      <vt:lpstr>Real World Performance Challenges</vt:lpstr>
      <vt:lpstr>Real World Performance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Kashish Mittal</dc:creator>
  <cp:lastModifiedBy>Kashish Mittal</cp:lastModifiedBy>
  <cp:revision>30</cp:revision>
  <dcterms:created xsi:type="dcterms:W3CDTF">2025-08-20T04:16:09Z</dcterms:created>
  <dcterms:modified xsi:type="dcterms:W3CDTF">2025-09-25T10:52:42Z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0x010100238E86AC857CA04FBDBC5CBCF563035C</vt:lpwstr>
  </property>
  <property fmtid="{D5CDD505-2E9C-101B-9397-08002B2CF9AE}" pid="3" name="Order">
    <vt:r8>5100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activity">
    <vt:lpwstr>{"FileActivityType":"9","FileActivityTimeStamp":"2025-08-22T11:30:36.943Z","FileActivityUsersOnPage":[{"DisplayName":"Kashish Mittal","Id":"kashish.mittal@complereinfosystem.com"}],"FileActivityNavigationId":null}</vt:lpwstr>
  </property>
  <property fmtid="{D5CDD505-2E9C-101B-9397-08002B2CF9AE}" pid="9" name="_ExtendedDescription">
    <vt:lpwstr/>
  </property>
  <property fmtid="{D5CDD505-2E9C-101B-9397-08002B2CF9AE}" pid="10" name="MediaServiceImageTags">
    <vt:lpwstr/>
  </property>
</Properties>
</file>